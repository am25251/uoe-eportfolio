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92" r:id="rId5"/>
    <p:sldId id="296" r:id="rId6"/>
    <p:sldId id="279" r:id="rId7"/>
    <p:sldId id="297" r:id="rId8"/>
    <p:sldId id="298" r:id="rId9"/>
    <p:sldId id="299" r:id="rId10"/>
    <p:sldId id="301" r:id="rId11"/>
    <p:sldId id="302" r:id="rId12"/>
    <p:sldId id="300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0" autoAdjust="0"/>
    <p:restoredTop sz="94839" autoAdjust="0"/>
  </p:normalViewPr>
  <p:slideViewPr>
    <p:cSldViewPr snapToGrid="0" showGuides="1">
      <p:cViewPr varScale="1">
        <p:scale>
          <a:sx n="79" d="100"/>
          <a:sy n="79" d="100"/>
        </p:scale>
        <p:origin x="92" y="1860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80906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213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7671816" cy="2103120"/>
          </a:xfrm>
        </p:spPr>
        <p:txBody>
          <a:bodyPr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9296AFE-5FB8-52A4-3111-3B53DBE4DB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200400"/>
            <a:ext cx="10149840" cy="28346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reeform: Shape 12">
            <a:extLst>
              <a:ext uri="{FF2B5EF4-FFF2-40B4-BE49-F238E27FC236}">
                <a16:creationId xmlns:a16="http://schemas.microsoft.com/office/drawing/2014/main" id="{809C5320-0161-C582-141C-55F06D4F3BAE}"/>
              </a:ext>
            </a:extLst>
          </p:cNvPr>
          <p:cNvSpPr/>
          <p:nvPr userDrawn="1"/>
        </p:nvSpPr>
        <p:spPr>
          <a:xfrm>
            <a:off x="8893126" y="351937"/>
            <a:ext cx="1331054" cy="150249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9C982F3-4477-76AC-0429-350585A39FFA}"/>
              </a:ext>
            </a:extLst>
          </p:cNvPr>
          <p:cNvSpPr/>
          <p:nvPr userDrawn="1"/>
        </p:nvSpPr>
        <p:spPr>
          <a:xfrm>
            <a:off x="5255120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87A8F7B2-0552-AAD4-9DE2-845DE10CA10A}"/>
              </a:ext>
            </a:extLst>
          </p:cNvPr>
          <p:cNvSpPr/>
          <p:nvPr userDrawn="1"/>
        </p:nvSpPr>
        <p:spPr>
          <a:xfrm>
            <a:off x="6710252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95DA7FF-BAA0-F04C-CA6C-16E9C2D55593}"/>
              </a:ext>
            </a:extLst>
          </p:cNvPr>
          <p:cNvSpPr/>
          <p:nvPr userDrawn="1"/>
        </p:nvSpPr>
        <p:spPr>
          <a:xfrm>
            <a:off x="879765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468D9CEC-53B7-B8DC-B77E-E3F86681879C}"/>
              </a:ext>
            </a:extLst>
          </p:cNvPr>
          <p:cNvSpPr/>
          <p:nvPr userDrawn="1"/>
        </p:nvSpPr>
        <p:spPr>
          <a:xfrm>
            <a:off x="2336512" y="-9525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9222D4D6-56B1-C4C3-0E51-FB22F0CD902B}"/>
              </a:ext>
            </a:extLst>
          </p:cNvPr>
          <p:cNvSpPr/>
          <p:nvPr userDrawn="1"/>
        </p:nvSpPr>
        <p:spPr>
          <a:xfrm>
            <a:off x="8160084" y="-10376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E6292F0-9E78-C98C-097B-30DEBBC1B179}"/>
              </a:ext>
            </a:extLst>
          </p:cNvPr>
          <p:cNvSpPr/>
          <p:nvPr userDrawn="1"/>
        </p:nvSpPr>
        <p:spPr>
          <a:xfrm>
            <a:off x="9615216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2">
            <a:extLst>
              <a:ext uri="{FF2B5EF4-FFF2-40B4-BE49-F238E27FC236}">
                <a16:creationId xmlns:a16="http://schemas.microsoft.com/office/drawing/2014/main" id="{315817B3-76DB-FDD0-60F7-E385C0E84F58}"/>
              </a:ext>
            </a:extLst>
          </p:cNvPr>
          <p:cNvSpPr/>
          <p:nvPr userDrawn="1"/>
        </p:nvSpPr>
        <p:spPr>
          <a:xfrm>
            <a:off x="10342958" y="320527"/>
            <a:ext cx="1331054" cy="150249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</p:spTree>
    <p:extLst>
      <p:ext uri="{BB962C8B-B14F-4D97-AF65-F5344CB8AC3E}">
        <p14:creationId xmlns:p14="http://schemas.microsoft.com/office/powerpoint/2010/main" val="389171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69" r:id="rId4"/>
    <p:sldLayoutId id="2147483655" r:id="rId5"/>
    <p:sldLayoutId id="2147483651" r:id="rId6"/>
    <p:sldLayoutId id="2147483662" r:id="rId7"/>
    <p:sldLayoutId id="2147483673" r:id="rId8"/>
    <p:sldLayoutId id="2147483653" r:id="rId9"/>
    <p:sldLayoutId id="2147483663" r:id="rId10"/>
    <p:sldLayoutId id="214748366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1" y="731520"/>
            <a:ext cx="8137273" cy="3291840"/>
          </a:xfrm>
        </p:spPr>
        <p:txBody>
          <a:bodyPr lIns="0" anchor="b" anchorCtr="0"/>
          <a:lstStyle/>
          <a:p>
            <a:r>
              <a:rPr lang="en-US" altLang="zh-CN" dirty="0"/>
              <a:t>Concurrency &amp; Parallelism</a:t>
            </a:r>
            <a:br>
              <a:rPr lang="en-US" altLang="zh-CN" dirty="0"/>
            </a:b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20434" y="4180176"/>
            <a:ext cx="2291510" cy="780242"/>
          </a:xfrm>
        </p:spPr>
        <p:txBody>
          <a:bodyPr/>
          <a:lstStyle/>
          <a:p>
            <a:r>
              <a:rPr lang="en-US" dirty="0"/>
              <a:t>Amnon Malka</a:t>
            </a:r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34527-E4CC-B910-0928-05432A3A682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33213" y="6218238"/>
            <a:ext cx="458787" cy="365125"/>
          </a:xfrm>
        </p:spPr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8A753F-7EA0-1D4B-6790-2E3D51727259}"/>
              </a:ext>
            </a:extLst>
          </p:cNvPr>
          <p:cNvSpPr txBox="1"/>
          <p:nvPr/>
        </p:nvSpPr>
        <p:spPr>
          <a:xfrm>
            <a:off x="1535739" y="2057857"/>
            <a:ext cx="716666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1" i="0" noProof="0" dirty="0">
                <a:solidFill>
                  <a:srgbClr val="FFFFFF"/>
                </a:solidFill>
                <a:latin typeface="Calibri"/>
              </a:rPr>
              <a:t>Concurrency </a:t>
            </a:r>
            <a:r>
              <a:rPr lang="en-US" sz="4400" b="1" dirty="0">
                <a:solidFill>
                  <a:srgbClr val="FFFFFF"/>
                </a:solidFill>
                <a:latin typeface="Calibri"/>
              </a:rPr>
              <a:t>and </a:t>
            </a:r>
          </a:p>
          <a:p>
            <a:pPr algn="l"/>
            <a:r>
              <a:rPr lang="en-US" sz="4400" b="1" i="0" noProof="0" dirty="0">
                <a:solidFill>
                  <a:srgbClr val="FFFFFF"/>
                </a:solidFill>
                <a:latin typeface="Calibri"/>
              </a:rPr>
              <a:t>Parallelism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AB043-149B-3378-F7B2-EB897A3476A7}"/>
              </a:ext>
            </a:extLst>
          </p:cNvPr>
          <p:cNvSpPr txBox="1"/>
          <p:nvPr/>
        </p:nvSpPr>
        <p:spPr>
          <a:xfrm>
            <a:off x="1240963" y="4504834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noProof="0" dirty="0">
                <a:solidFill>
                  <a:srgbClr val="02C39A"/>
                </a:solidFill>
                <a:latin typeface="Calibri"/>
              </a:rPr>
              <a:t>Thread Safety, Synchronization &amp; Python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E05790-ECDE-C192-37B2-2C3AC2967AF1}"/>
              </a:ext>
            </a:extLst>
          </p:cNvPr>
          <p:cNvSpPr txBox="1"/>
          <p:nvPr/>
        </p:nvSpPr>
        <p:spPr>
          <a:xfrm>
            <a:off x="732703" y="5034764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1" noProof="0" dirty="0">
                <a:solidFill>
                  <a:srgbClr val="AACCDD"/>
                </a:solidFill>
                <a:latin typeface="Calibri"/>
              </a:rPr>
              <a:t>Object-Oriented Approaches to Concurrent Programming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0A00BF-A953-818E-39F0-7B39FC909266}"/>
              </a:ext>
            </a:extLst>
          </p:cNvPr>
          <p:cNvSpPr/>
          <p:nvPr/>
        </p:nvSpPr>
        <p:spPr>
          <a:xfrm>
            <a:off x="8167456" y="986418"/>
            <a:ext cx="347472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25D985-8C08-B7B1-5068-F91C57CFBCC1}"/>
              </a:ext>
            </a:extLst>
          </p:cNvPr>
          <p:cNvSpPr txBox="1"/>
          <p:nvPr/>
        </p:nvSpPr>
        <p:spPr>
          <a:xfrm>
            <a:off x="8350337" y="1123578"/>
            <a:ext cx="3108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2C39A"/>
                </a:solidFill>
                <a:latin typeface="Calibri"/>
              </a:rPr>
              <a:t>Threads</a:t>
            </a:r>
            <a:endParaRPr lang="en-US" sz="2000" b="1" i="0" noProof="0" dirty="0">
              <a:solidFill>
                <a:srgbClr val="02C39A"/>
              </a:solidFill>
              <a:latin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AC9917-AA17-2795-08E4-A62A188775A7}"/>
              </a:ext>
            </a:extLst>
          </p:cNvPr>
          <p:cNvSpPr/>
          <p:nvPr/>
        </p:nvSpPr>
        <p:spPr>
          <a:xfrm>
            <a:off x="8167456" y="2175138"/>
            <a:ext cx="347472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F6E034-B847-C9F7-7C4B-E5B80C9D48B8}"/>
              </a:ext>
            </a:extLst>
          </p:cNvPr>
          <p:cNvSpPr txBox="1"/>
          <p:nvPr/>
        </p:nvSpPr>
        <p:spPr>
          <a:xfrm>
            <a:off x="8350337" y="2312298"/>
            <a:ext cx="3108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2C39A"/>
                </a:solidFill>
                <a:latin typeface="Calibri"/>
              </a:rPr>
              <a:t>Processes</a:t>
            </a:r>
            <a:endParaRPr lang="en-US" sz="2000" b="1" i="0" noProof="0" dirty="0">
              <a:solidFill>
                <a:srgbClr val="02C39A"/>
              </a:solidFill>
              <a:latin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3CDAA7-B12E-305C-01B7-9BECEC6C39ED}"/>
              </a:ext>
            </a:extLst>
          </p:cNvPr>
          <p:cNvSpPr/>
          <p:nvPr/>
        </p:nvSpPr>
        <p:spPr>
          <a:xfrm>
            <a:off x="8167456" y="3363858"/>
            <a:ext cx="347472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E60579-5B62-24C3-CE67-49E12500EB30}"/>
              </a:ext>
            </a:extLst>
          </p:cNvPr>
          <p:cNvSpPr txBox="1"/>
          <p:nvPr/>
        </p:nvSpPr>
        <p:spPr>
          <a:xfrm>
            <a:off x="8350337" y="350101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noProof="0" dirty="0">
                <a:solidFill>
                  <a:srgbClr val="02C39A"/>
                </a:solidFill>
                <a:latin typeface="Calibri"/>
              </a:rPr>
              <a:t>Locks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C02FD1-CE54-ED6D-F42E-95F2BB2303CE}"/>
              </a:ext>
            </a:extLst>
          </p:cNvPr>
          <p:cNvSpPr/>
          <p:nvPr/>
        </p:nvSpPr>
        <p:spPr>
          <a:xfrm>
            <a:off x="8167456" y="4552578"/>
            <a:ext cx="347472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EA6273-CA46-465B-3764-0D03A16E8E7B}"/>
              </a:ext>
            </a:extLst>
          </p:cNvPr>
          <p:cNvSpPr txBox="1"/>
          <p:nvPr/>
        </p:nvSpPr>
        <p:spPr>
          <a:xfrm>
            <a:off x="8350337" y="468973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noProof="0" dirty="0">
                <a:solidFill>
                  <a:srgbClr val="02C39A"/>
                </a:solidFill>
                <a:latin typeface="Calibri"/>
              </a:rPr>
              <a:t>Safety</a:t>
            </a:r>
          </a:p>
        </p:txBody>
      </p:sp>
    </p:spTree>
    <p:extLst>
      <p:ext uri="{BB962C8B-B14F-4D97-AF65-F5344CB8AC3E}">
        <p14:creationId xmlns:p14="http://schemas.microsoft.com/office/powerpoint/2010/main" val="545566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4800F032-5102-94C2-865C-AE9D448B2744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5C5013-A563-C783-9185-9C847D4B4A4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3</a:t>
            </a:fld>
            <a:endParaRPr lang="en-US" altLang="zh-CN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C12E10-1C6A-24D5-B6C4-F004FBFDE43B}"/>
              </a:ext>
            </a:extLst>
          </p:cNvPr>
          <p:cNvSpPr txBox="1"/>
          <p:nvPr/>
        </p:nvSpPr>
        <p:spPr>
          <a:xfrm>
            <a:off x="2531398" y="575862"/>
            <a:ext cx="687719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dirty="0">
                <a:solidFill>
                  <a:srgbClr val="FFFFFF"/>
                </a:solidFill>
                <a:latin typeface="Calibri"/>
              </a:rPr>
              <a:t>Concurrency vs Parallelism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D86CEC5-52A8-299B-C4DA-BD72E690B654}"/>
              </a:ext>
            </a:extLst>
          </p:cNvPr>
          <p:cNvSpPr/>
          <p:nvPr/>
        </p:nvSpPr>
        <p:spPr>
          <a:xfrm>
            <a:off x="314201" y="1824290"/>
            <a:ext cx="53949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7B22E12-F6B4-ABB0-4015-AD479BA5F994}"/>
              </a:ext>
            </a:extLst>
          </p:cNvPr>
          <p:cNvSpPr/>
          <p:nvPr/>
        </p:nvSpPr>
        <p:spPr>
          <a:xfrm>
            <a:off x="314201" y="1824290"/>
            <a:ext cx="539496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3F4F8B-C6C4-8842-39AC-0A575B766A8D}"/>
              </a:ext>
            </a:extLst>
          </p:cNvPr>
          <p:cNvSpPr txBox="1"/>
          <p:nvPr/>
        </p:nvSpPr>
        <p:spPr>
          <a:xfrm>
            <a:off x="497081" y="187001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FFFFFF"/>
                </a:solidFill>
                <a:latin typeface="Calibri"/>
              </a:rPr>
              <a:t>Concurrency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91FD794-00F0-E2D1-0B63-8DD1384E5950}"/>
              </a:ext>
            </a:extLst>
          </p:cNvPr>
          <p:cNvSpPr txBox="1"/>
          <p:nvPr/>
        </p:nvSpPr>
        <p:spPr>
          <a:xfrm>
            <a:off x="451361" y="2327210"/>
            <a:ext cx="5120640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2B3C"/>
                </a:solidFill>
                <a:latin typeface="Calibri"/>
              </a:rPr>
              <a:t>Manages multiple tasks within the same time period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1A2B3C"/>
              </a:solidFill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2B3C"/>
                </a:solidFill>
                <a:latin typeface="Calibri"/>
              </a:rPr>
              <a:t>Tasks may not execute at the exact same instant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1A2B3C"/>
              </a:solidFill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2B3C"/>
                </a:solidFill>
                <a:latin typeface="Calibri"/>
              </a:rPr>
              <a:t>Suited for I/O-bound work (waiting on network, disk)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1A2B3C"/>
              </a:solidFill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2B3C"/>
                </a:solidFill>
                <a:latin typeface="Calibri"/>
              </a:rPr>
              <a:t>Threads share memory space</a:t>
            </a:r>
          </a:p>
          <a:p>
            <a:endParaRPr lang="en-US" sz="1300" dirty="0">
              <a:solidFill>
                <a:srgbClr val="1A2B3C"/>
              </a:solidFill>
              <a:latin typeface="Calibri"/>
            </a:endParaRPr>
          </a:p>
          <a:p>
            <a:endParaRPr lang="en-US" sz="1300" dirty="0">
              <a:solidFill>
                <a:srgbClr val="1A2B3C"/>
              </a:solidFill>
              <a:latin typeface="Calibri"/>
            </a:endParaRPr>
          </a:p>
          <a:p>
            <a:pPr algn="l"/>
            <a:endParaRPr sz="1300" b="0" i="0" dirty="0">
              <a:solidFill>
                <a:srgbClr val="1A2B3C"/>
              </a:solidFill>
              <a:latin typeface="Calibri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C6DAA60-F506-3ADF-C31C-D2E93B5971E3}"/>
              </a:ext>
            </a:extLst>
          </p:cNvPr>
          <p:cNvSpPr/>
          <p:nvPr/>
        </p:nvSpPr>
        <p:spPr>
          <a:xfrm>
            <a:off x="6257801" y="1824290"/>
            <a:ext cx="53949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0259794-E59B-5AFB-8563-0DAF8E838F39}"/>
              </a:ext>
            </a:extLst>
          </p:cNvPr>
          <p:cNvSpPr/>
          <p:nvPr/>
        </p:nvSpPr>
        <p:spPr>
          <a:xfrm>
            <a:off x="6257801" y="1824290"/>
            <a:ext cx="539496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099B65-024B-3418-B9F4-19D8A4C4166E}"/>
              </a:ext>
            </a:extLst>
          </p:cNvPr>
          <p:cNvSpPr txBox="1"/>
          <p:nvPr/>
        </p:nvSpPr>
        <p:spPr>
          <a:xfrm>
            <a:off x="6440681" y="187001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FFFFFF"/>
                </a:solidFill>
                <a:latin typeface="Calibri"/>
              </a:rPr>
              <a:t>Parallelism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0B73EFD-D47F-0F18-7EDC-F7601196ED8E}"/>
              </a:ext>
            </a:extLst>
          </p:cNvPr>
          <p:cNvSpPr txBox="1"/>
          <p:nvPr/>
        </p:nvSpPr>
        <p:spPr>
          <a:xfrm>
            <a:off x="6394961" y="2327210"/>
            <a:ext cx="5120640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i="0" dirty="0">
                <a:solidFill>
                  <a:srgbClr val="1A2B3C"/>
                </a:solidFill>
                <a:latin typeface="Calibri"/>
              </a:rPr>
              <a:t>Executes tasks simultaneously across processor cores</a:t>
            </a:r>
            <a:endParaRPr lang="en-US" b="0" i="0" dirty="0">
              <a:solidFill>
                <a:srgbClr val="1A2B3C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1A2B3C"/>
              </a:solidFill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2B3C"/>
                </a:solidFill>
                <a:latin typeface="Calibri"/>
              </a:rPr>
              <a:t>True simultaneous execution on multiple cores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1A2B3C"/>
              </a:solidFill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2B3C"/>
                </a:solidFill>
                <a:latin typeface="Calibri"/>
              </a:rPr>
              <a:t>Suited for CPU-intensive (compute-heavy)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1A2B3C"/>
              </a:solidFill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2B3C"/>
                </a:solidFill>
                <a:latin typeface="Calibri"/>
              </a:rPr>
              <a:t>Processes use separate memory spaces</a:t>
            </a:r>
          </a:p>
          <a:p>
            <a:endParaRPr lang="en-US" sz="1300" dirty="0">
              <a:solidFill>
                <a:srgbClr val="1A2B3C"/>
              </a:solidFill>
              <a:latin typeface="Calibri"/>
            </a:endParaRPr>
          </a:p>
          <a:p>
            <a:endParaRPr lang="en-US" sz="1300" dirty="0">
              <a:solidFill>
                <a:srgbClr val="1A2B3C"/>
              </a:solidFill>
              <a:latin typeface="Calibri"/>
            </a:endParaRPr>
          </a:p>
          <a:p>
            <a:pPr algn="l"/>
            <a:endParaRPr sz="1300" b="0" i="0" dirty="0">
              <a:solidFill>
                <a:srgbClr val="1A2B3C"/>
              </a:solidFill>
              <a:latin typeface="Calibri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17F857B-80B8-F1D5-70D8-61E7086B6C08}"/>
              </a:ext>
            </a:extLst>
          </p:cNvPr>
          <p:cNvSpPr txBox="1"/>
          <p:nvPr/>
        </p:nvSpPr>
        <p:spPr>
          <a:xfrm>
            <a:off x="5695674" y="3561650"/>
            <a:ext cx="548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>
                    <a:lumMod val="95000"/>
                  </a:schemeClr>
                </a:solidFill>
                <a:latin typeface="Calibri"/>
              </a:rPr>
              <a:t>VS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4DEE59D-D739-9FBE-824A-22ACDF2825BB}"/>
              </a:ext>
            </a:extLst>
          </p:cNvPr>
          <p:cNvSpPr txBox="1"/>
          <p:nvPr/>
        </p:nvSpPr>
        <p:spPr>
          <a:xfrm>
            <a:off x="5084051" y="6332933"/>
            <a:ext cx="2621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(Aslan and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Aituov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2025)</a:t>
            </a:r>
          </a:p>
        </p:txBody>
      </p:sp>
    </p:spTree>
    <p:extLst>
      <p:ext uri="{BB962C8B-B14F-4D97-AF65-F5344CB8AC3E}">
        <p14:creationId xmlns:p14="http://schemas.microsoft.com/office/powerpoint/2010/main" val="1246021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7FC9E-6DFE-7EED-FB92-BFC784ACC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3C1BE84-C76C-6D07-7410-B63D8E52B688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1D2A60-588C-BE36-D6D1-58BB58A1093E}"/>
              </a:ext>
            </a:extLst>
          </p:cNvPr>
          <p:cNvSpPr txBox="1"/>
          <p:nvPr/>
        </p:nvSpPr>
        <p:spPr>
          <a:xfrm>
            <a:off x="3641417" y="1022817"/>
            <a:ext cx="59533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  <a:latin typeface="Calibri"/>
              </a:rPr>
              <a:t>Python </a:t>
            </a:r>
            <a:r>
              <a:rPr lang="en-US" sz="3200" b="1" i="0" dirty="0">
                <a:solidFill>
                  <a:srgbClr val="FFFFFF"/>
                </a:solidFill>
                <a:latin typeface="Calibri"/>
              </a:rPr>
              <a:t>and</a:t>
            </a:r>
            <a:r>
              <a:rPr sz="3200" b="1" i="0" dirty="0">
                <a:solidFill>
                  <a:srgbClr val="FFFFFF"/>
                </a:solidFill>
                <a:latin typeface="Calibri"/>
              </a:rPr>
              <a:t> the GIL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FA9598B-34B8-1420-B81D-A289A89D5FB2}"/>
              </a:ext>
            </a:extLst>
          </p:cNvPr>
          <p:cNvSpPr/>
          <p:nvPr/>
        </p:nvSpPr>
        <p:spPr>
          <a:xfrm>
            <a:off x="449969" y="1924286"/>
            <a:ext cx="54864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02C2BD-40EE-6BD6-933F-EDBFB62107ED}"/>
              </a:ext>
            </a:extLst>
          </p:cNvPr>
          <p:cNvSpPr txBox="1"/>
          <p:nvPr/>
        </p:nvSpPr>
        <p:spPr>
          <a:xfrm>
            <a:off x="660780" y="1897050"/>
            <a:ext cx="998233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65A82"/>
                </a:solidFill>
                <a:latin typeface="Calibri"/>
              </a:rPr>
              <a:t>The GIL (Global Interpreter Lock)</a:t>
            </a:r>
            <a:endParaRPr lang="en-US" b="1" i="0" dirty="0">
              <a:solidFill>
                <a:srgbClr val="065A82"/>
              </a:solidFill>
              <a:latin typeface="Calibri"/>
            </a:endParaRPr>
          </a:p>
          <a:p>
            <a:r>
              <a:rPr lang="en-US" dirty="0">
                <a:solidFill>
                  <a:schemeClr val="bg1"/>
                </a:solidFill>
                <a:latin typeface="Calibri"/>
              </a:rPr>
              <a:t>Prevents true thread parallelism in </a:t>
            </a:r>
            <a:r>
              <a:rPr lang="en-US" dirty="0" err="1">
                <a:solidFill>
                  <a:schemeClr val="bg1"/>
                </a:solidFill>
                <a:latin typeface="Calibri"/>
              </a:rPr>
              <a:t>CPython</a:t>
            </a:r>
            <a:r>
              <a:rPr lang="en-US" dirty="0">
                <a:solidFill>
                  <a:schemeClr val="bg1"/>
                </a:solidFill>
                <a:latin typeface="Calibri"/>
              </a:rPr>
              <a:t> — only one thread executes Python bytecode at a time.</a:t>
            </a:r>
          </a:p>
          <a:p>
            <a:endParaRPr lang="en-US" dirty="0">
              <a:solidFill>
                <a:schemeClr val="bg1"/>
              </a:solidFill>
              <a:latin typeface="Calibri"/>
            </a:endParaRPr>
          </a:p>
          <a:p>
            <a:r>
              <a:rPr lang="en-US" b="1" dirty="0">
                <a:solidFill>
                  <a:srgbClr val="065A82"/>
                </a:solidFill>
                <a:latin typeface="Calibri"/>
              </a:rPr>
              <a:t>Threads vs Processes</a:t>
            </a:r>
          </a:p>
          <a:p>
            <a:r>
              <a:rPr lang="en-US" dirty="0">
                <a:solidFill>
                  <a:schemeClr val="bg1"/>
                </a:solidFill>
                <a:latin typeface="Calibri"/>
              </a:rPr>
              <a:t>For CPU-bound tasks, use multiprocessing (separate memory spaces, bypass GIL). For I/O-bound tasks, threads work well.</a:t>
            </a:r>
          </a:p>
          <a:p>
            <a:endParaRPr lang="en-US" b="1" dirty="0">
              <a:solidFill>
                <a:srgbClr val="065A82"/>
              </a:solidFill>
              <a:latin typeface="Calibri"/>
            </a:endParaRPr>
          </a:p>
          <a:p>
            <a:r>
              <a:rPr lang="en-US" b="1" dirty="0">
                <a:solidFill>
                  <a:srgbClr val="065A82"/>
                </a:solidFill>
                <a:latin typeface="Calibri"/>
              </a:rPr>
              <a:t>Practical Implication</a:t>
            </a:r>
          </a:p>
          <a:p>
            <a:endParaRPr lang="en-US" b="1" dirty="0">
              <a:solidFill>
                <a:srgbClr val="065A82"/>
              </a:solidFill>
              <a:latin typeface="Calibri"/>
            </a:endParaRPr>
          </a:p>
          <a:p>
            <a:r>
              <a:rPr lang="en-US" dirty="0" err="1">
                <a:solidFill>
                  <a:schemeClr val="bg1"/>
                </a:solidFill>
                <a:latin typeface="Calibri"/>
              </a:rPr>
              <a:t>threading.Thread</a:t>
            </a:r>
            <a:r>
              <a:rPr lang="en-US" dirty="0">
                <a:solidFill>
                  <a:schemeClr val="bg1"/>
                </a:solidFill>
                <a:latin typeface="Calibri"/>
              </a:rPr>
              <a:t> is effective for web requests and file I/O. </a:t>
            </a:r>
            <a:r>
              <a:rPr lang="en-US" dirty="0" err="1">
                <a:solidFill>
                  <a:schemeClr val="bg1"/>
                </a:solidFill>
                <a:latin typeface="Calibri"/>
              </a:rPr>
              <a:t>multiprocessing.Process</a:t>
            </a:r>
            <a:r>
              <a:rPr lang="en-US" dirty="0">
                <a:solidFill>
                  <a:schemeClr val="bg1"/>
                </a:solidFill>
                <a:latin typeface="Calibri"/>
              </a:rPr>
              <a:t> suits heavy computation.</a:t>
            </a:r>
          </a:p>
          <a:p>
            <a:endParaRPr lang="en-US" dirty="0">
              <a:solidFill>
                <a:schemeClr val="bg1"/>
              </a:solidFill>
              <a:latin typeface="Calibri"/>
            </a:endParaRPr>
          </a:p>
          <a:p>
            <a:r>
              <a:rPr lang="en-US" b="1" dirty="0">
                <a:solidFill>
                  <a:srgbClr val="065A82"/>
                </a:solidFill>
                <a:latin typeface="Calibri"/>
              </a:rPr>
              <a:t>OOP Principles Help</a:t>
            </a:r>
          </a:p>
          <a:p>
            <a:r>
              <a:rPr lang="en-US" dirty="0">
                <a:solidFill>
                  <a:schemeClr val="bg1"/>
                </a:solidFill>
                <a:latin typeface="Calibri"/>
              </a:rPr>
              <a:t>Encapsulation exposes shared data only through controlled methods. Abstraction hides synchronization complexity.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0D25B00-D809-90C1-DB13-9FFB673B5EE7}"/>
              </a:ext>
            </a:extLst>
          </p:cNvPr>
          <p:cNvSpPr/>
          <p:nvPr/>
        </p:nvSpPr>
        <p:spPr>
          <a:xfrm>
            <a:off x="449969" y="3113006"/>
            <a:ext cx="54864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76B661A-9C28-1899-B4DE-D8B2BCBC69FC}"/>
              </a:ext>
            </a:extLst>
          </p:cNvPr>
          <p:cNvSpPr/>
          <p:nvPr/>
        </p:nvSpPr>
        <p:spPr>
          <a:xfrm>
            <a:off x="449969" y="4301726"/>
            <a:ext cx="54864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49D422F-3916-6900-9E08-B99165D23EA0}"/>
              </a:ext>
            </a:extLst>
          </p:cNvPr>
          <p:cNvSpPr/>
          <p:nvPr/>
        </p:nvSpPr>
        <p:spPr>
          <a:xfrm>
            <a:off x="449969" y="5490446"/>
            <a:ext cx="54864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26694FC-1977-F219-7F04-ECD5D7CEADCC}"/>
              </a:ext>
            </a:extLst>
          </p:cNvPr>
          <p:cNvSpPr txBox="1"/>
          <p:nvPr/>
        </p:nvSpPr>
        <p:spPr>
          <a:xfrm>
            <a:off x="754812" y="6313406"/>
            <a:ext cx="4642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(Aslan and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Aituov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2025; McDonald, 2022)</a:t>
            </a:r>
          </a:p>
        </p:txBody>
      </p:sp>
    </p:spTree>
    <p:extLst>
      <p:ext uri="{BB962C8B-B14F-4D97-AF65-F5344CB8AC3E}">
        <p14:creationId xmlns:p14="http://schemas.microsoft.com/office/powerpoint/2010/main" val="657173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302FC-D78D-8E16-870F-F97E3F9B35D9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5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5D9992-4744-D2DC-8617-DCAA3D17307F}"/>
              </a:ext>
            </a:extLst>
          </p:cNvPr>
          <p:cNvSpPr txBox="1"/>
          <p:nvPr/>
        </p:nvSpPr>
        <p:spPr>
          <a:xfrm>
            <a:off x="195827" y="264511"/>
            <a:ext cx="55935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  <a:latin typeface="Calibri"/>
              </a:rPr>
              <a:t>Synchronization Mechanisms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BC81D-5EEF-AC12-3E1E-736210A6BF7E}"/>
              </a:ext>
            </a:extLst>
          </p:cNvPr>
          <p:cNvSpPr/>
          <p:nvPr/>
        </p:nvSpPr>
        <p:spPr>
          <a:xfrm>
            <a:off x="379517" y="1373840"/>
            <a:ext cx="3566160" cy="3200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9A1A08-6EC4-09E3-94D4-7C680583E65F}"/>
              </a:ext>
            </a:extLst>
          </p:cNvPr>
          <p:cNvSpPr txBox="1"/>
          <p:nvPr/>
        </p:nvSpPr>
        <p:spPr>
          <a:xfrm>
            <a:off x="562397" y="1541346"/>
            <a:ext cx="320040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Calibri"/>
              </a:rPr>
              <a:t>Locks</a:t>
            </a:r>
          </a:p>
          <a:p>
            <a:endParaRPr lang="en-US" sz="2000" b="1" dirty="0">
              <a:solidFill>
                <a:srgbClr val="FFFFFF"/>
              </a:solidFill>
              <a:latin typeface="Calibri"/>
            </a:endParaRPr>
          </a:p>
          <a:p>
            <a:endParaRPr lang="en-US" sz="2000" b="1" dirty="0">
              <a:solidFill>
                <a:srgbClr val="FFFFFF"/>
              </a:solidFill>
              <a:latin typeface="Calibri"/>
            </a:endParaRPr>
          </a:p>
          <a:p>
            <a:r>
              <a:rPr sz="2000" b="0" i="0" dirty="0">
                <a:solidFill>
                  <a:srgbClr val="E8F4F8"/>
                </a:solidFill>
                <a:latin typeface="Calibri"/>
              </a:rPr>
              <a:t>Enforce mutual exclusion — only one thread accesses a shared resource at a time.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CEDCF6-3DDE-C6EA-2F16-3723CCB64DD9}"/>
              </a:ext>
            </a:extLst>
          </p:cNvPr>
          <p:cNvSpPr/>
          <p:nvPr/>
        </p:nvSpPr>
        <p:spPr>
          <a:xfrm>
            <a:off x="4219997" y="1373840"/>
            <a:ext cx="3566160" cy="32004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0D6DEE-EBA7-3C76-0A3B-E0DC4CA7E34F}"/>
              </a:ext>
            </a:extLst>
          </p:cNvPr>
          <p:cNvSpPr txBox="1"/>
          <p:nvPr/>
        </p:nvSpPr>
        <p:spPr>
          <a:xfrm>
            <a:off x="4289588" y="1541346"/>
            <a:ext cx="320040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Calibri"/>
              </a:rPr>
              <a:t>Semaphores</a:t>
            </a:r>
          </a:p>
          <a:p>
            <a:endParaRPr lang="en-US" sz="2000" b="1" dirty="0">
              <a:solidFill>
                <a:srgbClr val="FFFFFF"/>
              </a:solidFill>
              <a:latin typeface="Calibri"/>
            </a:endParaRPr>
          </a:p>
          <a:p>
            <a:endParaRPr lang="en-US" sz="2000" b="1" i="0" dirty="0">
              <a:solidFill>
                <a:srgbClr val="FFFFFF"/>
              </a:solidFill>
              <a:latin typeface="Calibri"/>
            </a:endParaRPr>
          </a:p>
          <a:p>
            <a:r>
              <a:rPr lang="en-US" sz="2000" b="0" i="0" dirty="0">
                <a:solidFill>
                  <a:srgbClr val="E8F4F8"/>
                </a:solidFill>
                <a:latin typeface="Calibri"/>
              </a:rPr>
              <a:t>Limit the number of threads that can access a resource concurrently.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468504-CC95-B2CE-D7B4-8AABBA121AD9}"/>
              </a:ext>
            </a:extLst>
          </p:cNvPr>
          <p:cNvSpPr/>
          <p:nvPr/>
        </p:nvSpPr>
        <p:spPr>
          <a:xfrm>
            <a:off x="8060477" y="1373840"/>
            <a:ext cx="3566160" cy="3200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0F3781-3E2C-85F6-F376-D50E140E19E7}"/>
              </a:ext>
            </a:extLst>
          </p:cNvPr>
          <p:cNvSpPr txBox="1"/>
          <p:nvPr/>
        </p:nvSpPr>
        <p:spPr>
          <a:xfrm>
            <a:off x="8223065" y="1541346"/>
            <a:ext cx="320040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Calibri"/>
              </a:rPr>
              <a:t>Monitors</a:t>
            </a:r>
          </a:p>
          <a:p>
            <a:r>
              <a:rPr lang="en-US" sz="2000" b="1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endParaRPr lang="en-US" sz="2000" b="1" dirty="0">
              <a:solidFill>
                <a:srgbClr val="FFFFFF"/>
              </a:solidFill>
              <a:latin typeface="Calibri"/>
            </a:endParaRPr>
          </a:p>
          <a:p>
            <a:r>
              <a:rPr sz="2000" b="0" i="0" dirty="0">
                <a:solidFill>
                  <a:srgbClr val="E8F4F8"/>
                </a:solidFill>
                <a:latin typeface="Calibri"/>
              </a:rPr>
              <a:t>Combine locking with condition management for coordinated thread access.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771AE8-473D-051B-C43B-A03221E2CE05}"/>
              </a:ext>
            </a:extLst>
          </p:cNvPr>
          <p:cNvSpPr txBox="1"/>
          <p:nvPr/>
        </p:nvSpPr>
        <p:spPr>
          <a:xfrm>
            <a:off x="608117" y="5207629"/>
            <a:ext cx="5029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65A82"/>
                </a:solidFill>
                <a:latin typeface="Calibri"/>
              </a:rPr>
              <a:t>Race Conditions</a:t>
            </a:r>
            <a:endParaRPr lang="en-US" b="1" i="0" dirty="0">
              <a:solidFill>
                <a:srgbClr val="065A82"/>
              </a:solidFill>
              <a:latin typeface="Calibri"/>
            </a:endParaRPr>
          </a:p>
          <a:p>
            <a:r>
              <a:rPr lang="en-US" dirty="0">
                <a:solidFill>
                  <a:schemeClr val="bg1"/>
                </a:solidFill>
                <a:latin typeface="Calibri"/>
              </a:rPr>
              <a:t>Arise when threads modify shared data simultaneously without synchronization.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FA26E8-3E6B-34E9-325B-635A2E55B00B}"/>
              </a:ext>
            </a:extLst>
          </p:cNvPr>
          <p:cNvSpPr/>
          <p:nvPr/>
        </p:nvSpPr>
        <p:spPr>
          <a:xfrm>
            <a:off x="379517" y="5207629"/>
            <a:ext cx="54864" cy="7772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DA5052-D8B0-9794-C9EB-5855A05CE471}"/>
              </a:ext>
            </a:extLst>
          </p:cNvPr>
          <p:cNvSpPr txBox="1"/>
          <p:nvPr/>
        </p:nvSpPr>
        <p:spPr>
          <a:xfrm>
            <a:off x="6597437" y="5207629"/>
            <a:ext cx="5029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65A82"/>
                </a:solidFill>
                <a:latin typeface="Calibri"/>
              </a:rPr>
              <a:t>Deadlocks</a:t>
            </a:r>
            <a:endParaRPr lang="en-US" b="1" i="0" dirty="0">
              <a:solidFill>
                <a:srgbClr val="065A82"/>
              </a:solidFill>
              <a:latin typeface="Calibri"/>
            </a:endParaRPr>
          </a:p>
          <a:p>
            <a:r>
              <a:rPr lang="en-US" dirty="0">
                <a:solidFill>
                  <a:schemeClr val="bg1"/>
                </a:solidFill>
                <a:latin typeface="Calibri"/>
              </a:rPr>
              <a:t>Threads wait indefinitely for each other. Solutions: lock ordering, timeouts, thread-safe data structures.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E24BC6-7B3A-238D-DFA7-D41396DB8190}"/>
              </a:ext>
            </a:extLst>
          </p:cNvPr>
          <p:cNvSpPr/>
          <p:nvPr/>
        </p:nvSpPr>
        <p:spPr>
          <a:xfrm>
            <a:off x="6368837" y="5207629"/>
            <a:ext cx="54864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4CABBC-908C-EF25-391F-01A49D6A02C6}"/>
              </a:ext>
            </a:extLst>
          </p:cNvPr>
          <p:cNvSpPr txBox="1"/>
          <p:nvPr/>
        </p:nvSpPr>
        <p:spPr>
          <a:xfrm>
            <a:off x="754812" y="6313406"/>
            <a:ext cx="4642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(McDonald, 2022)</a:t>
            </a:r>
          </a:p>
        </p:txBody>
      </p:sp>
    </p:spTree>
    <p:extLst>
      <p:ext uri="{BB962C8B-B14F-4D97-AF65-F5344CB8AC3E}">
        <p14:creationId xmlns:p14="http://schemas.microsoft.com/office/powerpoint/2010/main" val="1767961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FAEC78-7C56-E750-01D1-F330352C09F2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245728" y="6479158"/>
            <a:ext cx="458592" cy="365125"/>
          </a:xfrm>
        </p:spPr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6</a:t>
            </a:fld>
            <a:endParaRPr lang="en-US" altLang="zh-CN" noProof="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EF4AE0D-D1F0-42A9-69BB-710E500D6B97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3051ACB-6103-0C75-EF3E-85ECAA992DA4}"/>
              </a:ext>
            </a:extLst>
          </p:cNvPr>
          <p:cNvSpPr txBox="1"/>
          <p:nvPr/>
        </p:nvSpPr>
        <p:spPr>
          <a:xfrm>
            <a:off x="365760" y="22860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  <a:latin typeface="Calibri"/>
              </a:rPr>
              <a:t>Thread-Safe </a:t>
            </a:r>
            <a:r>
              <a:rPr sz="3200" b="1" i="0" dirty="0" err="1">
                <a:solidFill>
                  <a:srgbClr val="FFFFFF"/>
                </a:solidFill>
                <a:latin typeface="Calibri"/>
              </a:rPr>
              <a:t>BankAccount</a:t>
            </a:r>
            <a:endParaRPr sz="3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10F0FB4-EDF1-665D-AA58-B870E42E7E88}"/>
              </a:ext>
            </a:extLst>
          </p:cNvPr>
          <p:cNvSpPr/>
          <p:nvPr/>
        </p:nvSpPr>
        <p:spPr>
          <a:xfrm>
            <a:off x="274321" y="1417320"/>
            <a:ext cx="5576222" cy="512064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834F02-5365-C9D6-4CDE-F663F71C4D0A}"/>
              </a:ext>
            </a:extLst>
          </p:cNvPr>
          <p:cNvSpPr txBox="1"/>
          <p:nvPr/>
        </p:nvSpPr>
        <p:spPr>
          <a:xfrm>
            <a:off x="384049" y="1463040"/>
            <a:ext cx="7132320" cy="5001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```python</a:t>
            </a:r>
          </a:p>
          <a:p>
            <a:pPr algn="l"/>
            <a:endParaRPr lang="en-US" sz="1100" b="0" i="0" dirty="0">
              <a:solidFill>
                <a:srgbClr val="A8D8EA"/>
              </a:solidFill>
              <a:latin typeface="Consolas"/>
            </a:endParaRPr>
          </a:p>
          <a:p>
            <a:pPr algn="l"/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import threading</a:t>
            </a:r>
          </a:p>
          <a:p>
            <a:pPr algn="l"/>
            <a:endParaRPr lang="en-US" sz="1100" b="0" i="0" dirty="0">
              <a:solidFill>
                <a:srgbClr val="A8D8EA"/>
              </a:solidFill>
              <a:latin typeface="Consolas"/>
            </a:endParaRPr>
          </a:p>
          <a:p>
            <a:pPr algn="l"/>
            <a:r>
              <a:rPr lang="en-US" sz="1100" dirty="0">
                <a:solidFill>
                  <a:srgbClr val="02C39A"/>
                </a:solidFill>
                <a:latin typeface="Consolas"/>
              </a:rPr>
              <a:t>class </a:t>
            </a:r>
            <a:r>
              <a:rPr lang="en-US" sz="1100" dirty="0" err="1">
                <a:solidFill>
                  <a:srgbClr val="02C39A"/>
                </a:solidFill>
                <a:latin typeface="Consolas"/>
              </a:rPr>
              <a:t>BankAccount</a:t>
            </a:r>
            <a:r>
              <a:rPr lang="en-US" sz="1100" dirty="0">
                <a:solidFill>
                  <a:srgbClr val="02C39A"/>
                </a:solidFill>
                <a:latin typeface="Consolas"/>
              </a:rPr>
              <a:t>:</a:t>
            </a:r>
          </a:p>
          <a:p>
            <a:pPr algn="l"/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    def __</a:t>
            </a:r>
            <a:r>
              <a:rPr lang="en-US" sz="1100" b="0" i="0" dirty="0" err="1">
                <a:solidFill>
                  <a:srgbClr val="A8D8EA"/>
                </a:solidFill>
                <a:latin typeface="Consolas"/>
              </a:rPr>
              <a:t>init</a:t>
            </a:r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__(self):</a:t>
            </a:r>
          </a:p>
          <a:p>
            <a:pPr algn="l"/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        </a:t>
            </a:r>
            <a:r>
              <a:rPr lang="en-US" sz="1100" b="0" i="0" dirty="0" err="1">
                <a:solidFill>
                  <a:srgbClr val="A8D8EA"/>
                </a:solidFill>
                <a:latin typeface="Consolas"/>
              </a:rPr>
              <a:t>self.balance</a:t>
            </a:r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 = 0</a:t>
            </a:r>
          </a:p>
          <a:p>
            <a:pPr algn="l"/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        </a:t>
            </a:r>
            <a:r>
              <a:rPr lang="en-US" sz="1100" b="0" i="0" dirty="0" err="1">
                <a:solidFill>
                  <a:srgbClr val="A8D8EA"/>
                </a:solidFill>
                <a:latin typeface="Consolas"/>
              </a:rPr>
              <a:t>self.lock</a:t>
            </a:r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 = </a:t>
            </a:r>
            <a:r>
              <a:rPr lang="en-US" sz="1100" b="0" i="0" dirty="0" err="1">
                <a:solidFill>
                  <a:srgbClr val="A8D8EA"/>
                </a:solidFill>
                <a:latin typeface="Consolas"/>
              </a:rPr>
              <a:t>threading.Lock</a:t>
            </a:r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()</a:t>
            </a:r>
          </a:p>
          <a:p>
            <a:pPr algn="l"/>
            <a:endParaRPr lang="en-US" sz="1100" b="0" i="0" dirty="0">
              <a:solidFill>
                <a:srgbClr val="A8D8EA"/>
              </a:solidFill>
              <a:latin typeface="Consolas"/>
            </a:endParaRPr>
          </a:p>
          <a:p>
            <a:pPr algn="l"/>
            <a:endParaRPr lang="en-US" sz="1100" b="0" i="0" dirty="0">
              <a:solidFill>
                <a:srgbClr val="A8D8EA"/>
              </a:solidFill>
              <a:latin typeface="Consolas"/>
            </a:endParaRPr>
          </a:p>
          <a:p>
            <a:pPr algn="l"/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    def deposit(self, amount):</a:t>
            </a:r>
          </a:p>
          <a:p>
            <a:pPr algn="l"/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        with </a:t>
            </a:r>
            <a:r>
              <a:rPr lang="en-US" sz="1100" b="0" i="0" dirty="0" err="1">
                <a:solidFill>
                  <a:srgbClr val="A8D8EA"/>
                </a:solidFill>
                <a:latin typeface="Consolas"/>
              </a:rPr>
              <a:t>self.lock</a:t>
            </a:r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:</a:t>
            </a:r>
          </a:p>
          <a:p>
            <a:pPr algn="l"/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            </a:t>
            </a:r>
            <a:r>
              <a:rPr lang="en-US" sz="1100" b="0" i="0" dirty="0" err="1">
                <a:solidFill>
                  <a:srgbClr val="A8D8EA"/>
                </a:solidFill>
                <a:latin typeface="Consolas"/>
              </a:rPr>
              <a:t>self.balance</a:t>
            </a:r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 += amount</a:t>
            </a:r>
          </a:p>
          <a:p>
            <a:pPr algn="l"/>
            <a:endParaRPr lang="en-US" sz="1100" b="0" i="0" dirty="0">
              <a:solidFill>
                <a:srgbClr val="A8D8EA"/>
              </a:solidFill>
              <a:latin typeface="Consolas"/>
            </a:endParaRPr>
          </a:p>
          <a:p>
            <a:pPr algn="l"/>
            <a:endParaRPr lang="en-US" sz="1100" b="0" i="0" dirty="0">
              <a:solidFill>
                <a:srgbClr val="A8D8EA"/>
              </a:solidFill>
              <a:latin typeface="Consolas"/>
            </a:endParaRPr>
          </a:p>
          <a:p>
            <a:pPr algn="l"/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    def withdraw(self, amount):</a:t>
            </a:r>
          </a:p>
          <a:p>
            <a:pPr algn="l"/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        with </a:t>
            </a:r>
            <a:r>
              <a:rPr lang="en-US" sz="1100" b="0" i="0" dirty="0" err="1">
                <a:solidFill>
                  <a:srgbClr val="A8D8EA"/>
                </a:solidFill>
                <a:latin typeface="Consolas"/>
              </a:rPr>
              <a:t>self.lock</a:t>
            </a:r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:</a:t>
            </a:r>
          </a:p>
          <a:p>
            <a:pPr algn="l"/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            if </a:t>
            </a:r>
            <a:r>
              <a:rPr lang="en-US" sz="1100" b="0" i="0" dirty="0" err="1">
                <a:solidFill>
                  <a:srgbClr val="A8D8EA"/>
                </a:solidFill>
                <a:latin typeface="Consolas"/>
              </a:rPr>
              <a:t>self.balance</a:t>
            </a:r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 &gt;= amount:</a:t>
            </a:r>
          </a:p>
          <a:p>
            <a:pPr algn="l"/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                </a:t>
            </a:r>
            <a:r>
              <a:rPr lang="en-US" sz="1100" b="0" i="0" dirty="0" err="1">
                <a:solidFill>
                  <a:srgbClr val="A8D8EA"/>
                </a:solidFill>
                <a:latin typeface="Consolas"/>
              </a:rPr>
              <a:t>self.balance</a:t>
            </a:r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 -= amount</a:t>
            </a:r>
          </a:p>
          <a:p>
            <a:pPr algn="l"/>
            <a:endParaRPr lang="en-US" sz="1100" b="0" i="0" dirty="0">
              <a:solidFill>
                <a:srgbClr val="A8D8EA"/>
              </a:solidFill>
              <a:latin typeface="Consolas"/>
            </a:endParaRPr>
          </a:p>
          <a:p>
            <a:pPr algn="l"/>
            <a:endParaRPr lang="en-US" sz="1100" b="0" i="0" dirty="0">
              <a:solidFill>
                <a:srgbClr val="A8D8EA"/>
              </a:solidFill>
              <a:latin typeface="Consolas"/>
            </a:endParaRPr>
          </a:p>
          <a:p>
            <a:pPr algn="l"/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account = </a:t>
            </a:r>
            <a:r>
              <a:rPr lang="en-US" sz="1100" b="0" i="0" dirty="0" err="1">
                <a:solidFill>
                  <a:srgbClr val="A8D8EA"/>
                </a:solidFill>
                <a:latin typeface="Consolas"/>
              </a:rPr>
              <a:t>BankAccount</a:t>
            </a:r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()</a:t>
            </a:r>
          </a:p>
          <a:p>
            <a:pPr algn="l"/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t1 = </a:t>
            </a:r>
            <a:r>
              <a:rPr lang="en-US" sz="1100" b="0" i="0" dirty="0" err="1">
                <a:solidFill>
                  <a:srgbClr val="A8D8EA"/>
                </a:solidFill>
                <a:latin typeface="Consolas"/>
              </a:rPr>
              <a:t>threading.Thread</a:t>
            </a:r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(target=</a:t>
            </a:r>
            <a:r>
              <a:rPr lang="en-US" sz="1100" b="0" i="0" dirty="0" err="1">
                <a:solidFill>
                  <a:srgbClr val="A8D8EA"/>
                </a:solidFill>
                <a:latin typeface="Consolas"/>
              </a:rPr>
              <a:t>account.deposit</a:t>
            </a:r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, </a:t>
            </a:r>
            <a:r>
              <a:rPr lang="en-US" sz="1100" b="0" i="0" dirty="0" err="1">
                <a:solidFill>
                  <a:srgbClr val="A8D8EA"/>
                </a:solidFill>
                <a:latin typeface="Consolas"/>
              </a:rPr>
              <a:t>args</a:t>
            </a:r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=(100,))</a:t>
            </a:r>
          </a:p>
          <a:p>
            <a:pPr algn="l"/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t2 = </a:t>
            </a:r>
            <a:r>
              <a:rPr lang="en-US" sz="1100" b="0" i="0" dirty="0" err="1">
                <a:solidFill>
                  <a:srgbClr val="A8D8EA"/>
                </a:solidFill>
                <a:latin typeface="Consolas"/>
              </a:rPr>
              <a:t>threading.Thread</a:t>
            </a:r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(target=</a:t>
            </a:r>
            <a:r>
              <a:rPr lang="en-US" sz="1100" b="0" i="0" dirty="0" err="1">
                <a:solidFill>
                  <a:srgbClr val="A8D8EA"/>
                </a:solidFill>
                <a:latin typeface="Consolas"/>
              </a:rPr>
              <a:t>account.withdraw</a:t>
            </a:r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, </a:t>
            </a:r>
            <a:r>
              <a:rPr lang="en-US" sz="1100" b="0" i="0" dirty="0" err="1">
                <a:solidFill>
                  <a:srgbClr val="A8D8EA"/>
                </a:solidFill>
                <a:latin typeface="Consolas"/>
              </a:rPr>
              <a:t>args</a:t>
            </a:r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=(50,))</a:t>
            </a:r>
          </a:p>
          <a:p>
            <a:pPr algn="l"/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t1.start(); t2.start()</a:t>
            </a:r>
          </a:p>
          <a:p>
            <a:pPr algn="l"/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t1.join(); t2.join()</a:t>
            </a:r>
          </a:p>
          <a:p>
            <a:pPr algn="l"/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print(</a:t>
            </a:r>
            <a:r>
              <a:rPr lang="en-US" sz="1100" b="0" i="0" dirty="0" err="1">
                <a:solidFill>
                  <a:srgbClr val="A8D8EA"/>
                </a:solidFill>
                <a:latin typeface="Consolas"/>
              </a:rPr>
              <a:t>account.balance</a:t>
            </a:r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)</a:t>
            </a:r>
          </a:p>
          <a:p>
            <a:pPr algn="l"/>
            <a:endParaRPr lang="en-US" sz="1100" b="0" i="0" dirty="0">
              <a:solidFill>
                <a:srgbClr val="A8D8EA"/>
              </a:solidFill>
              <a:latin typeface="Consolas"/>
            </a:endParaRPr>
          </a:p>
          <a:p>
            <a:pPr algn="l"/>
            <a:r>
              <a:rPr lang="en-US" sz="1100" b="0" i="0" dirty="0">
                <a:solidFill>
                  <a:srgbClr val="A8D8EA"/>
                </a:solidFill>
                <a:latin typeface="Consolas"/>
              </a:rPr>
              <a:t>```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A782967-D645-A43A-D1D7-37F3C7E2FA3D}"/>
              </a:ext>
            </a:extLst>
          </p:cNvPr>
          <p:cNvSpPr/>
          <p:nvPr/>
        </p:nvSpPr>
        <p:spPr>
          <a:xfrm>
            <a:off x="6341459" y="1417320"/>
            <a:ext cx="5545741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3DCFBD1-41C1-B181-9485-7BE528330842}"/>
              </a:ext>
            </a:extLst>
          </p:cNvPr>
          <p:cNvSpPr/>
          <p:nvPr/>
        </p:nvSpPr>
        <p:spPr>
          <a:xfrm>
            <a:off x="6310978" y="1417320"/>
            <a:ext cx="5576222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F823DCF-045E-B912-D6B5-168050D4627D}"/>
              </a:ext>
            </a:extLst>
          </p:cNvPr>
          <p:cNvSpPr txBox="1"/>
          <p:nvPr/>
        </p:nvSpPr>
        <p:spPr>
          <a:xfrm>
            <a:off x="6341459" y="1463040"/>
            <a:ext cx="53171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Key Concepts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A9679E7-9C95-ED7C-FAFF-78B308E51A78}"/>
              </a:ext>
            </a:extLst>
          </p:cNvPr>
          <p:cNvSpPr txBox="1"/>
          <p:nvPr/>
        </p:nvSpPr>
        <p:spPr>
          <a:xfrm>
            <a:off x="6481720" y="1920240"/>
            <a:ext cx="543595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1" i="0" dirty="0">
              <a:solidFill>
                <a:srgbClr val="065A82"/>
              </a:solidFill>
              <a:latin typeface="Calibri"/>
            </a:endParaRPr>
          </a:p>
          <a:p>
            <a:pPr algn="l"/>
            <a:r>
              <a:rPr b="1" i="0" dirty="0">
                <a:solidFill>
                  <a:srgbClr val="065A82"/>
                </a:solidFill>
                <a:latin typeface="Calibri"/>
              </a:rPr>
              <a:t>Encapsulation</a:t>
            </a:r>
            <a:endParaRPr lang="en-US" b="1" i="0" dirty="0">
              <a:solidFill>
                <a:srgbClr val="065A82"/>
              </a:solidFill>
              <a:latin typeface="Calibri"/>
            </a:endParaRPr>
          </a:p>
          <a:p>
            <a:r>
              <a:rPr lang="en-US" dirty="0">
                <a:solidFill>
                  <a:srgbClr val="1A2B3C"/>
                </a:solidFill>
                <a:latin typeface="Calibri"/>
              </a:rPr>
              <a:t>balance is private; accessed only via deposit/withdraw</a:t>
            </a:r>
          </a:p>
          <a:p>
            <a:pPr algn="l"/>
            <a:endParaRPr lang="en-US" b="1" i="0" dirty="0">
              <a:solidFill>
                <a:srgbClr val="065A82"/>
              </a:solidFill>
              <a:latin typeface="Calibri"/>
            </a:endParaRPr>
          </a:p>
          <a:p>
            <a:pPr algn="l"/>
            <a:endParaRPr lang="en-US" b="1" i="0" dirty="0">
              <a:solidFill>
                <a:srgbClr val="065A82"/>
              </a:solidFill>
              <a:latin typeface="Calibri"/>
            </a:endParaRPr>
          </a:p>
          <a:p>
            <a:pPr algn="l"/>
            <a:r>
              <a:rPr lang="en-US" b="1" i="0" dirty="0">
                <a:solidFill>
                  <a:srgbClr val="065A82"/>
                </a:solidFill>
                <a:latin typeface="Calibri"/>
              </a:rPr>
              <a:t>Mutual Exclusion</a:t>
            </a:r>
          </a:p>
          <a:p>
            <a:r>
              <a:rPr lang="en-US" dirty="0">
                <a:solidFill>
                  <a:srgbClr val="1A2B3C"/>
                </a:solidFill>
                <a:latin typeface="Calibri"/>
              </a:rPr>
              <a:t>with </a:t>
            </a:r>
            <a:r>
              <a:rPr lang="en-US" dirty="0" err="1">
                <a:solidFill>
                  <a:srgbClr val="1A2B3C"/>
                </a:solidFill>
                <a:latin typeface="Calibri"/>
              </a:rPr>
              <a:t>self.lock</a:t>
            </a:r>
            <a:r>
              <a:rPr lang="en-US" dirty="0">
                <a:solidFill>
                  <a:srgbClr val="1A2B3C"/>
                </a:solidFill>
                <a:latin typeface="Calibri"/>
              </a:rPr>
              <a:t> ensures one thread at a time</a:t>
            </a:r>
          </a:p>
          <a:p>
            <a:endParaRPr lang="en-US" dirty="0">
              <a:solidFill>
                <a:srgbClr val="1A2B3C"/>
              </a:solidFill>
              <a:latin typeface="Calibri"/>
            </a:endParaRPr>
          </a:p>
          <a:p>
            <a:endParaRPr lang="en-US" dirty="0">
              <a:solidFill>
                <a:srgbClr val="1A2B3C"/>
              </a:solidFill>
              <a:latin typeface="Calibri"/>
            </a:endParaRPr>
          </a:p>
          <a:p>
            <a:r>
              <a:rPr lang="en-US" b="1" dirty="0">
                <a:solidFill>
                  <a:srgbClr val="065A82"/>
                </a:solidFill>
                <a:latin typeface="Calibri"/>
              </a:rPr>
              <a:t>Thread Safety</a:t>
            </a:r>
          </a:p>
          <a:p>
            <a:r>
              <a:rPr lang="en-US" dirty="0">
                <a:solidFill>
                  <a:srgbClr val="1A2B3C"/>
                </a:solidFill>
                <a:latin typeface="Calibri"/>
              </a:rPr>
              <a:t>No race conditions on balance modifications</a:t>
            </a:r>
          </a:p>
          <a:p>
            <a:endParaRPr lang="en-US" dirty="0">
              <a:solidFill>
                <a:srgbClr val="1A2B3C"/>
              </a:solidFill>
              <a:latin typeface="Calibri"/>
            </a:endParaRPr>
          </a:p>
          <a:p>
            <a:endParaRPr lang="en-US" dirty="0">
              <a:solidFill>
                <a:srgbClr val="1A2B3C"/>
              </a:solidFill>
              <a:latin typeface="Calibri"/>
            </a:endParaRPr>
          </a:p>
          <a:p>
            <a:r>
              <a:rPr lang="en-US" b="1" dirty="0">
                <a:solidFill>
                  <a:srgbClr val="065A82"/>
                </a:solidFill>
                <a:latin typeface="Calibri"/>
              </a:rPr>
              <a:t>Context Manager</a:t>
            </a:r>
            <a:endParaRPr lang="en-US" dirty="0">
              <a:solidFill>
                <a:srgbClr val="1A2B3C"/>
              </a:solidFill>
              <a:latin typeface="Calibri"/>
            </a:endParaRPr>
          </a:p>
          <a:p>
            <a:r>
              <a:rPr lang="en-US" dirty="0">
                <a:solidFill>
                  <a:srgbClr val="1A2B3C"/>
                </a:solidFill>
                <a:latin typeface="Calibri"/>
              </a:rPr>
              <a:t>lock auto-releases even if exception occurs</a:t>
            </a:r>
          </a:p>
          <a:p>
            <a:endParaRPr lang="en-US" dirty="0">
              <a:solidFill>
                <a:srgbClr val="1A2B3C"/>
              </a:solidFill>
              <a:latin typeface="Calibri"/>
            </a:endParaRPr>
          </a:p>
          <a:p>
            <a:pPr algn="l"/>
            <a:endParaRPr b="1" i="0" dirty="0">
              <a:solidFill>
                <a:srgbClr val="065A82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10317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4E200B-6C9D-75D7-0CBF-86791A2BE74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7</a:t>
            </a:fld>
            <a:endParaRPr lang="en-US" altLang="zh-CN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D773A1-7F90-286C-DEBD-55C62C44AB6E}"/>
              </a:ext>
            </a:extLst>
          </p:cNvPr>
          <p:cNvSpPr txBox="1"/>
          <p:nvPr/>
        </p:nvSpPr>
        <p:spPr>
          <a:xfrm>
            <a:off x="365760" y="1582817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solidFill>
                  <a:srgbClr val="FFFFFF"/>
                </a:solidFill>
                <a:latin typeface="Calibri"/>
              </a:rPr>
              <a:t>Explanation: </a:t>
            </a:r>
            <a:endParaRPr sz="3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45B0B1-1255-284C-8E42-41E9FEDF9BDA}"/>
              </a:ext>
            </a:extLst>
          </p:cNvPr>
          <p:cNvSpPr txBox="1"/>
          <p:nvPr/>
        </p:nvSpPr>
        <p:spPr>
          <a:xfrm>
            <a:off x="268655" y="2460653"/>
            <a:ext cx="105156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i="0" dirty="0">
                <a:solidFill>
                  <a:srgbClr val="FFFFFF"/>
                </a:solidFill>
                <a:latin typeface="Calibri"/>
              </a:rPr>
              <a:t>This Python code deals with thread-safe banking operations employing the threading module. </a:t>
            </a:r>
          </a:p>
          <a:p>
            <a:pPr algn="l"/>
            <a:endParaRPr lang="en-US" sz="2000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lang="en-US" sz="2000" i="0" dirty="0">
                <a:solidFill>
                  <a:srgbClr val="FFFFFF"/>
                </a:solidFill>
                <a:latin typeface="Calibri"/>
              </a:rPr>
              <a:t>While the </a:t>
            </a:r>
            <a:r>
              <a:rPr lang="en-US" sz="2000" i="0" dirty="0" err="1">
                <a:solidFill>
                  <a:srgbClr val="FFFFFF"/>
                </a:solidFill>
                <a:latin typeface="Calibri"/>
              </a:rPr>
              <a:t>BankAccount</a:t>
            </a:r>
            <a:r>
              <a:rPr lang="en-US" sz="2000" i="0" dirty="0">
                <a:solidFill>
                  <a:srgbClr val="FFFFFF"/>
                </a:solidFill>
                <a:latin typeface="Calibri"/>
              </a:rPr>
              <a:t> class holds the balance and uses a Lock object to control race conditions, when multiple threads access the same data. </a:t>
            </a:r>
          </a:p>
          <a:p>
            <a:pPr algn="l"/>
            <a:endParaRPr lang="en-US" sz="2000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lang="en-US" sz="2000" i="0" dirty="0">
                <a:solidFill>
                  <a:srgbClr val="FFFFFF"/>
                </a:solidFill>
                <a:latin typeface="Calibri"/>
              </a:rPr>
              <a:t>The deposit() and withdraw() methods safely modify the balance within with </a:t>
            </a:r>
            <a:r>
              <a:rPr lang="en-US" sz="2000" i="0" dirty="0" err="1">
                <a:solidFill>
                  <a:srgbClr val="FFFFFF"/>
                </a:solidFill>
                <a:latin typeface="Calibri"/>
              </a:rPr>
              <a:t>self.lock</a:t>
            </a:r>
            <a:r>
              <a:rPr lang="en-US" sz="2000" i="0" dirty="0">
                <a:solidFill>
                  <a:srgbClr val="FFFFFF"/>
                </a:solidFill>
                <a:latin typeface="Calibri"/>
              </a:rPr>
              <a:t> blocks. Two threads are created: one deposits 100, while the other withdraws 50. After both threads finish, execution using join(), the final account balance is printed as 50</a:t>
            </a:r>
            <a:endParaRPr sz="2000" i="0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3985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15AFC-F39B-71D0-830E-8904038F7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1A5A5-0A41-2FC1-34A4-AF58E39B272F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8</a:t>
            </a:fld>
            <a:endParaRPr lang="en-US" altLang="zh-CN" noProof="0" dirty="0"/>
          </a:p>
        </p:txBody>
      </p:sp>
      <p:pic>
        <p:nvPicPr>
          <p:cNvPr id="3" name="Picture 2" descr="A Python code snippet demonstrating a multi-threaded bank account system with deposit and withdrawal operations, resulting in a final account balance of 50.&#10;&#10;AI-generated content may be incorrect.">
            <a:extLst>
              <a:ext uri="{FF2B5EF4-FFF2-40B4-BE49-F238E27FC236}">
                <a16:creationId xmlns:a16="http://schemas.microsoft.com/office/drawing/2014/main" id="{090D8799-EDD6-E2DF-DF06-B89C808D3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356626" cy="6858000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DEDE18BE-3AB9-2B9B-B941-AF5A8F8A1603}"/>
              </a:ext>
            </a:extLst>
          </p:cNvPr>
          <p:cNvSpPr/>
          <p:nvPr/>
        </p:nvSpPr>
        <p:spPr>
          <a:xfrm rot="10800000">
            <a:off x="0" y="6400482"/>
            <a:ext cx="581179" cy="283980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05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952B64-9C1B-153C-844E-F36778A2279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33213" y="6218238"/>
            <a:ext cx="458787" cy="365125"/>
          </a:xfrm>
        </p:spPr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9</a:t>
            </a:fld>
            <a:endParaRPr lang="en-US" altLang="zh-CN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537450-5F58-821F-BC38-A75E2040E823}"/>
              </a:ext>
            </a:extLst>
          </p:cNvPr>
          <p:cNvSpPr txBox="1"/>
          <p:nvPr/>
        </p:nvSpPr>
        <p:spPr>
          <a:xfrm>
            <a:off x="529490" y="1344477"/>
            <a:ext cx="39311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293A1C-27C0-6D5E-2A67-AB942A6F5A80}"/>
              </a:ext>
            </a:extLst>
          </p:cNvPr>
          <p:cNvSpPr txBox="1"/>
          <p:nvPr/>
        </p:nvSpPr>
        <p:spPr>
          <a:xfrm>
            <a:off x="2116741" y="2374202"/>
            <a:ext cx="936585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McDonald, J. C. (2022) </a:t>
            </a:r>
            <a:r>
              <a:rPr lang="en-US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Dead Simple Python: Idiomatic Python for the Impatient Programmer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1st edition. New York: No Starch Press. Available at: https://essex.primo.exlibrisgroup.com/permalink/44UOES_INST/s7iv0e/cdi_proquest_ebookcentral_EBC7129684</a:t>
            </a:r>
            <a:r>
              <a:rPr b="0" i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0" i="0" dirty="0">
                <a:solidFill>
                  <a:schemeClr val="bg1"/>
                </a:solidFill>
                <a:latin typeface="Calibri"/>
              </a:rPr>
              <a:t>[Accessed: 21 May 2026].</a:t>
            </a:r>
            <a:endParaRPr lang="en-US" b="0" i="0" dirty="0">
              <a:solidFill>
                <a:schemeClr val="bg1"/>
              </a:solidFill>
              <a:latin typeface="Calibri"/>
            </a:endParaRPr>
          </a:p>
          <a:p>
            <a:pPr algn="l"/>
            <a:endParaRPr lang="en-US" b="0" i="0" dirty="0">
              <a:solidFill>
                <a:schemeClr val="bg1"/>
              </a:solidFill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Aslan, Z. and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Aituov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A., (2025). EVALUATION OF CUNCURRENCY METHODS IN PYTHON FOR PROCESSOR-INTENSIVE TASKS ON MULTICORE SYSTEMS. </a:t>
            </a:r>
            <a:r>
              <a:rPr lang="en-US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Reviews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(9). </a:t>
            </a:r>
            <a:r>
              <a:rPr lang="en-US" dirty="0">
                <a:solidFill>
                  <a:schemeClr val="bg1"/>
                </a:solidFill>
                <a:latin typeface="Calibri"/>
              </a:rPr>
              <a:t>Available at: https://ojs.scipub.de/index.php/RR/article/view/5936 [Accessed: 21 May 2026].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b="0" i="0" dirty="0">
              <a:solidFill>
                <a:schemeClr val="bg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399329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{C4E341FA-926C-4FC6-910A-16AB3FBBB57B}TF63aebcec-8e39-4664-940a-dd6c2f00c54d020a9832_win32-3cdd3ee32610</Template>
  <TotalTime>333</TotalTime>
  <Words>688</Words>
  <Application>Microsoft Office PowerPoint</Application>
  <PresentationFormat>Widescreen</PresentationFormat>
  <Paragraphs>131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等线</vt:lpstr>
      <vt:lpstr>Abadi</vt:lpstr>
      <vt:lpstr>Arial</vt:lpstr>
      <vt:lpstr>Calibri</vt:lpstr>
      <vt:lpstr>Consolas</vt:lpstr>
      <vt:lpstr>Posterama</vt:lpstr>
      <vt:lpstr>Posterama Text SemiBold</vt:lpstr>
      <vt:lpstr>Custom</vt:lpstr>
      <vt:lpstr>Concurrency &amp; Parallelism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Amnon Malka</dc:creator>
  <cp:lastModifiedBy>Amnon Malka</cp:lastModifiedBy>
  <cp:revision>27</cp:revision>
  <dcterms:created xsi:type="dcterms:W3CDTF">2026-05-22T08:02:35Z</dcterms:created>
  <dcterms:modified xsi:type="dcterms:W3CDTF">2026-05-22T13:35:43Z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