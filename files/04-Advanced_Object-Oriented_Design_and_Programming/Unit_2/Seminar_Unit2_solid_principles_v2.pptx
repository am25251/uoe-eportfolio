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4" r:id="rId5"/>
    <p:sldId id="329" r:id="rId6"/>
    <p:sldId id="343" r:id="rId7"/>
    <p:sldId id="339" r:id="rId8"/>
    <p:sldId id="322" r:id="rId9"/>
    <p:sldId id="325" r:id="rId10"/>
    <p:sldId id="33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DFE"/>
    <a:srgbClr val="D4DDFE"/>
    <a:srgbClr val="D5DEFF"/>
    <a:srgbClr val="F6F7FF"/>
    <a:srgbClr val="DBDCE5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5394" autoAdjust="0"/>
  </p:normalViewPr>
  <p:slideViewPr>
    <p:cSldViewPr snapToGrid="0">
      <p:cViewPr varScale="1">
        <p:scale>
          <a:sx n="69" d="100"/>
          <a:sy n="69" d="100"/>
        </p:scale>
        <p:origin x="68" y="596"/>
      </p:cViewPr>
      <p:guideLst>
        <p:guide orient="horz" pos="1416"/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-1036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5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2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998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23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908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76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9382" y="174786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3014" y="36107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1915" y="30469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10800000">
            <a:off x="1084203" y="4586286"/>
            <a:ext cx="1574573" cy="227171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82467" y="5439854"/>
            <a:ext cx="1096391" cy="10963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6629" y="3758740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459137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83" r:id="rId4"/>
    <p:sldLayoutId id="2147483684" r:id="rId5"/>
    <p:sldLayoutId id="2147483685" r:id="rId6"/>
    <p:sldLayoutId id="2147483671" r:id="rId7"/>
    <p:sldLayoutId id="2147483679" r:id="rId8"/>
    <p:sldLayoutId id="2147483676" r:id="rId9"/>
    <p:sldLayoutId id="2147483669" r:id="rId10"/>
    <p:sldLayoutId id="2147483673" r:id="rId11"/>
    <p:sldLayoutId id="2147483682" r:id="rId12"/>
    <p:sldLayoutId id="214748365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5" y="629469"/>
            <a:ext cx="8961120" cy="5599062"/>
          </a:xfrm>
        </p:spPr>
        <p:txBody>
          <a:bodyPr/>
          <a:lstStyle/>
          <a:p>
            <a:r>
              <a:rPr lang="en-US" dirty="0"/>
              <a:t>SOLID Principles</a:t>
            </a:r>
            <a:br>
              <a:rPr lang="en-US" dirty="0"/>
            </a:br>
            <a:br>
              <a:rPr lang="en-US" dirty="0"/>
            </a:br>
            <a:br>
              <a:rPr lang="en-US" sz="2000" dirty="0"/>
            </a:br>
            <a:r>
              <a:rPr lang="en-US" sz="2000" dirty="0"/>
              <a:t>Object-Oriented Design Seminar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273" y="621973"/>
            <a:ext cx="7832436" cy="1828800"/>
          </a:xfrm>
        </p:spPr>
        <p:txBody>
          <a:bodyPr/>
          <a:lstStyle/>
          <a:p>
            <a:r>
              <a:rPr lang="en-US" dirty="0"/>
              <a:t>Introduction to SOLID Principles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3273" y="2179782"/>
            <a:ext cx="8037251" cy="4157354"/>
          </a:xfrm>
        </p:spPr>
        <p:txBody>
          <a:bodyPr/>
          <a:lstStyle/>
          <a:p>
            <a:r>
              <a:rPr lang="en-US" dirty="0"/>
              <a:t>Object-Oriented Design (OOD) structures software using classes and objects.</a:t>
            </a:r>
          </a:p>
          <a:p>
            <a:r>
              <a:rPr lang="en-US" dirty="0"/>
              <a:t>SOLID is an acronym for five principles that make software more understandable, flexible, and maintainable.</a:t>
            </a:r>
          </a:p>
          <a:p>
            <a:r>
              <a:rPr lang="en-US" dirty="0"/>
              <a:t>(</a:t>
            </a:r>
            <a:r>
              <a:rPr lang="en-US" dirty="0" err="1"/>
              <a:t>Ramachandrappa</a:t>
            </a:r>
            <a:r>
              <a:rPr lang="en-US" dirty="0"/>
              <a:t>, 2024).</a:t>
            </a:r>
          </a:p>
          <a:p>
            <a:endParaRPr lang="en-US" dirty="0"/>
          </a:p>
          <a:p>
            <a:r>
              <a:rPr lang="en-US" dirty="0"/>
              <a:t>Many academic papers provide evidence that the application of SOLID principles improves code quality, especially in complex systems, as demonstrated by many academic papers.</a:t>
            </a:r>
          </a:p>
          <a:p>
            <a:r>
              <a:rPr lang="en-US" dirty="0"/>
              <a:t>(Cabral et al., 2024).</a:t>
            </a:r>
          </a:p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65A33D-8CCB-4583-56B8-0B1F3C6E5A96}"/>
              </a:ext>
            </a:extLst>
          </p:cNvPr>
          <p:cNvSpPr/>
          <p:nvPr/>
        </p:nvSpPr>
        <p:spPr>
          <a:xfrm flipV="1">
            <a:off x="216131" y="1874982"/>
            <a:ext cx="7099069" cy="9421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2"/>
            <a:ext cx="7599718" cy="652646"/>
          </a:xfrm>
        </p:spPr>
        <p:txBody>
          <a:bodyPr anchor="b"/>
          <a:lstStyle/>
          <a:p>
            <a:r>
              <a:rPr lang="en-US" sz="3200" dirty="0"/>
              <a:t>The Five SOLID Principles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2AAE26EE-5BE3-A58D-3321-0DE0086B088F}"/>
              </a:ext>
            </a:extLst>
          </p:cNvPr>
          <p:cNvSpPr/>
          <p:nvPr/>
        </p:nvSpPr>
        <p:spPr>
          <a:xfrm>
            <a:off x="290022" y="1708912"/>
            <a:ext cx="80467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9C8BD87-9BA3-027C-D788-7FE000453146}"/>
              </a:ext>
            </a:extLst>
          </p:cNvPr>
          <p:cNvSpPr/>
          <p:nvPr/>
        </p:nvSpPr>
        <p:spPr>
          <a:xfrm>
            <a:off x="457200" y="19673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S – SRP  Single Responsibility: each class has one job.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DAA37BC-39F8-5B83-1F34-19946791360F}"/>
              </a:ext>
            </a:extLst>
          </p:cNvPr>
          <p:cNvSpPr/>
          <p:nvPr/>
        </p:nvSpPr>
        <p:spPr>
          <a:xfrm>
            <a:off x="457200" y="26531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O – OCP  Open/Closed: open for extension, closed for modification.</a:t>
            </a: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E16EA051-E3F4-39FF-E089-CBDD36320B11}"/>
              </a:ext>
            </a:extLst>
          </p:cNvPr>
          <p:cNvSpPr/>
          <p:nvPr/>
        </p:nvSpPr>
        <p:spPr>
          <a:xfrm>
            <a:off x="457200" y="33389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L – LSP  Liskov Substitution: subclasses replaceable for base classes.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6B0CD02-9844-0214-0148-F9AF4592F692}"/>
              </a:ext>
            </a:extLst>
          </p:cNvPr>
          <p:cNvSpPr/>
          <p:nvPr/>
        </p:nvSpPr>
        <p:spPr>
          <a:xfrm>
            <a:off x="457200" y="40247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I – ISP  Interface Segregation: no client forced to depend on unused methods.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0898141-AA1F-17B0-1F72-409EE0ACBA91}"/>
              </a:ext>
            </a:extLst>
          </p:cNvPr>
          <p:cNvSpPr/>
          <p:nvPr/>
        </p:nvSpPr>
        <p:spPr>
          <a:xfrm>
            <a:off x="457200" y="47105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D – DIP  Dependency Inversion: depend on abstractions, not concretions.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779422-7CD4-03A5-BB5C-710D9AE3A4D9}"/>
              </a:ext>
            </a:extLst>
          </p:cNvPr>
          <p:cNvSpPr txBox="1"/>
          <p:nvPr/>
        </p:nvSpPr>
        <p:spPr>
          <a:xfrm>
            <a:off x="457200" y="5589697"/>
            <a:ext cx="3008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Ramachandrappa</a:t>
            </a:r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, (2024)</a:t>
            </a:r>
            <a:endParaRPr lang="LID4096" b="1" dirty="0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072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8E5B-47A0-EF94-A53D-6FDB74C9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656" y="621972"/>
            <a:ext cx="8737600" cy="1828800"/>
          </a:xfrm>
        </p:spPr>
        <p:txBody>
          <a:bodyPr/>
          <a:lstStyle/>
          <a:p>
            <a:r>
              <a:rPr lang="en-US" dirty="0"/>
              <a:t>Practical Exercise – Refactor to SOLID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C0F29315-C207-1E38-5160-2E978FD33184}"/>
              </a:ext>
            </a:extLst>
          </p:cNvPr>
          <p:cNvSpPr/>
          <p:nvPr/>
        </p:nvSpPr>
        <p:spPr>
          <a:xfrm>
            <a:off x="3347258" y="1973344"/>
            <a:ext cx="80467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FCF0C5BF-AAF7-110F-6442-3B49B37E7213}"/>
              </a:ext>
            </a:extLst>
          </p:cNvPr>
          <p:cNvSpPr/>
          <p:nvPr/>
        </p:nvSpPr>
        <p:spPr>
          <a:xfrm>
            <a:off x="3032298" y="22770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b="1" spc="100" dirty="0">
                <a:solidFill>
                  <a:schemeClr val="bg1"/>
                </a:solidFill>
              </a:rPr>
              <a:t>Before (violates SRP): one class handles data and printing</a:t>
            </a:r>
            <a:endParaRPr lang="LID4096" b="1" spc="100" dirty="0">
              <a:solidFill>
                <a:schemeClr val="bg1"/>
              </a:solidFill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3034F85-2779-2662-743F-DC7F4E865F3E}"/>
              </a:ext>
            </a:extLst>
          </p:cNvPr>
          <p:cNvSpPr/>
          <p:nvPr/>
        </p:nvSpPr>
        <p:spPr>
          <a:xfrm>
            <a:off x="2940858" y="2688516"/>
            <a:ext cx="3657600" cy="11887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51070A0-B129-DCE0-C322-D478E31EB5A3}"/>
              </a:ext>
            </a:extLst>
          </p:cNvPr>
          <p:cNvSpPr/>
          <p:nvPr/>
        </p:nvSpPr>
        <p:spPr>
          <a:xfrm>
            <a:off x="3078018" y="2752524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Report: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data(self): ...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print(self): ...</a:t>
            </a:r>
            <a:endParaRPr lang="en-US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187AC5B-8080-A18F-4E9F-509DD88CC415}"/>
              </a:ext>
            </a:extLst>
          </p:cNvPr>
          <p:cNvSpPr/>
          <p:nvPr/>
        </p:nvSpPr>
        <p:spPr>
          <a:xfrm>
            <a:off x="3032298" y="43161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b="1" spc="100" dirty="0">
                <a:solidFill>
                  <a:schemeClr val="bg1"/>
                </a:solidFill>
              </a:rPr>
              <a:t>After (SRP applied): responsibilities separated.</a:t>
            </a: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7ECB4239-AC24-095F-7929-C017EA178F82}"/>
              </a:ext>
            </a:extLst>
          </p:cNvPr>
          <p:cNvSpPr/>
          <p:nvPr/>
        </p:nvSpPr>
        <p:spPr>
          <a:xfrm>
            <a:off x="2940858" y="4709340"/>
            <a:ext cx="8046720" cy="168795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29E3B75-1DD2-F70D-DF40-E766DE5225EE}"/>
              </a:ext>
            </a:extLst>
          </p:cNvPr>
          <p:cNvSpPr/>
          <p:nvPr/>
        </p:nvSpPr>
        <p:spPr>
          <a:xfrm>
            <a:off x="3078018" y="4773348"/>
            <a:ext cx="7772400" cy="1810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Report: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data(self): ...   # only data logic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ReportPrinter: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print(self, report): ...   # only print logic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83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348845-3852-D4E6-EF42-8024EAC0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21792"/>
            <a:ext cx="8180412" cy="689772"/>
          </a:xfrm>
        </p:spPr>
        <p:txBody>
          <a:bodyPr/>
          <a:lstStyle/>
          <a:p>
            <a:r>
              <a:rPr lang="en-US" dirty="0"/>
              <a:t>Seminar Preparation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A259648-9C7C-D090-42D3-14EA6C2BE60D}"/>
              </a:ext>
            </a:extLst>
          </p:cNvPr>
          <p:cNvSpPr/>
          <p:nvPr/>
        </p:nvSpPr>
        <p:spPr>
          <a:xfrm>
            <a:off x="640079" y="1468582"/>
            <a:ext cx="11173229" cy="4886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cs typeface="Arial" panose="020B0604020202020204" pitchFamily="34" charset="0"/>
              </a:rPr>
              <a:t>Review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SRP, OCP, LSP, ISP, DIP and refactoring techniques.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cs typeface="Arial" panose="020B0604020202020204" pitchFamily="34" charset="0"/>
              </a:rPr>
              <a:t>Environment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Ensure that a Python interpreter and an IDE are installed on my computer.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cs typeface="Arial" panose="020B0604020202020204" pitchFamily="34" charset="0"/>
              </a:rPr>
              <a:t>Questions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Which SOLID principle ensures that a class should have only one reason to change, and why is this important in software design?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b="1" dirty="0">
                <a:solidFill>
                  <a:schemeClr val="bg1"/>
                </a:solidFill>
                <a:cs typeface="Arial" panose="020B0604020202020204" pitchFamily="34" charset="0"/>
              </a:rPr>
              <a:t>Answer</a:t>
            </a: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: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It is important, because it produces code that is easier to comprehend, test, and maintain, if a class does too many things, changes in one area can unintentionally break other parts of the system, like puling a brick from a tower of bricks, this increasing chances for errors, bugs and reducing flexibility.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Practice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Write simple snippets and refactor for readability</a:t>
            </a:r>
          </a:p>
        </p:txBody>
      </p:sp>
    </p:spTree>
    <p:extLst>
      <p:ext uri="{BB962C8B-B14F-4D97-AF65-F5344CB8AC3E}">
        <p14:creationId xmlns:p14="http://schemas.microsoft.com/office/powerpoint/2010/main" val="359155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058" y="1462481"/>
            <a:ext cx="6400800" cy="883555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96622-BFDE-D806-F80F-CB3D2EE19A5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258618" y="3149600"/>
            <a:ext cx="11674764" cy="290945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Cabral, B., Kalinowski, M., Fernandes, P. and Lopes, H. (2024) 'Investigating the impact of SOLID design principles on machine learning code understanding', in Proceedings of CAIN 2024. Available at: https://arxiv.org/pdf/2402.05337 [Accessed: 6 May 2026].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Ramachandrappa</a:t>
            </a:r>
            <a:r>
              <a:rPr lang="en-US" dirty="0"/>
              <a:t>, N.C. (2024) 'SOLID design principles in software engineering', International Journal of Computer Trends and Technology, 72(9), pp. 18–23. Available at: https://doi.org/10.14445/22312803/IJCTT-V72I9P104 [Accessed: 6 May 2026].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0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CE595D9-27F3-FE1C-9A37-0F9F7903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45059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7a59ce-372b-4cae-86c9-e42707939b60" xsi:nil="true"/>
    <lcf76f155ced4ddcb4097134ff3c332f xmlns="bbed3059-5870-4b49-baac-3f0c41c6339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481F7D88EEFA4D9C8F37433F870E20" ma:contentTypeVersion="12" ma:contentTypeDescription="Create a new document." ma:contentTypeScope="" ma:versionID="cce97054bfe4cda4eb398e3df4e23da6">
  <xsd:schema xmlns:xsd="http://www.w3.org/2001/XMLSchema" xmlns:xs="http://www.w3.org/2001/XMLSchema" xmlns:p="http://schemas.microsoft.com/office/2006/metadata/properties" xmlns:ns2="bbed3059-5870-4b49-baac-3f0c41c63392" xmlns:ns3="0b7a59ce-372b-4cae-86c9-e42707939b60" targetNamespace="http://schemas.microsoft.com/office/2006/metadata/properties" ma:root="true" ma:fieldsID="4c1a4ff235387f62761ced1884ca9964" ns2:_="" ns3:_="">
    <xsd:import namespace="bbed3059-5870-4b49-baac-3f0c41c63392"/>
    <xsd:import namespace="0b7a59ce-372b-4cae-86c9-e42707939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ed3059-5870-4b49-baac-3f0c41c633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28c1094-7533-48ec-a175-729810d2b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7a59ce-372b-4cae-86c9-e42707939b6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75b5d41-1344-4930-8cd3-6c293ee398f3}" ma:internalName="TaxCatchAll" ma:showField="CatchAllData" ma:web="0b7a59ce-372b-4cae-86c9-e42707939b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7C52C5-6F65-4D42-B855-A3283C55581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5B6D968-3BA5-45CA-AFA4-01F84FB04F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D59A70-FC6C-44D4-A09B-1840490B4C75}"/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13</TotalTime>
  <Words>475</Words>
  <Application>Microsoft Office PowerPoint</Application>
  <PresentationFormat>Widescreen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Courier New</vt:lpstr>
      <vt:lpstr>Custom</vt:lpstr>
      <vt:lpstr>SOLID Principles   Object-Oriented Design Seminar </vt:lpstr>
      <vt:lpstr>Introduction to SOLID Principles </vt:lpstr>
      <vt:lpstr>The Five SOLID Principles</vt:lpstr>
      <vt:lpstr>Practical Exercise – Refactor to SOLID</vt:lpstr>
      <vt:lpstr>Seminar Preparation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Amnon Malka</dc:creator>
  <cp:lastModifiedBy>Amnon Malka</cp:lastModifiedBy>
  <cp:revision>6</cp:revision>
  <dcterms:created xsi:type="dcterms:W3CDTF">2026-05-06T15:51:07Z</dcterms:created>
  <dcterms:modified xsi:type="dcterms:W3CDTF">2026-05-06T16:04:54Z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0x010100B8481F7D88EEFA4D9C8F37433F870E20</vt:lpwstr>
  </property>
</Properties>
</file>